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65" r:id="rId5"/>
    <p:sldId id="259" r:id="rId6"/>
    <p:sldId id="260" r:id="rId7"/>
    <p:sldId id="267" r:id="rId8"/>
    <p:sldId id="268" r:id="rId9"/>
    <p:sldId id="270" r:id="rId10"/>
    <p:sldId id="269" r:id="rId11"/>
    <p:sldId id="271" r:id="rId12"/>
    <p:sldId id="261" r:id="rId13"/>
    <p:sldId id="272" r:id="rId14"/>
    <p:sldId id="262" r:id="rId15"/>
    <p:sldId id="263" r:id="rId16"/>
  </p:sldIdLst>
  <p:sldSz cx="12192000" cy="6858000"/>
  <p:notesSz cx="6858000" cy="9144000"/>
  <p:embeddedFontLst>
    <p:embeddedFont>
      <p:font typeface="Gill Sans Nova Light" panose="020B0302020104020203" pitchFamily="34" charset="0"/>
      <p:regular r:id="rId18"/>
      <p:italic r:id="rId19"/>
    </p:embeddedFont>
    <p:embeddedFont>
      <p:font typeface="JetBrains Mono"/>
      <p:regular r:id="rId20"/>
    </p:embeddedFont>
    <p:embeddedFont>
      <p:font typeface="Plus Jakarta Sans"/>
      <p:bold r:id="rId21"/>
    </p:embeddedFont>
    <p:embeddedFont>
      <p:font typeface="Sagona Book" panose="02020503050505020204" pitchFamily="18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975" autoAdjust="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F0659-626D-4C9D-94A5-892C7023CEE1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317F7-94AF-4EFF-9BA2-C73F7C6F8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3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317F7-94AF-4EFF-9BA2-C73F7C6F89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9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62899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00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551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35055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37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29741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9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43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83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97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37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1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60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hyperlink" Target="https://www.publicdomainpictures.net/view-image.php?image=27342&amp;picture=solid-blue-background&amp;large=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www.publicdomainpictures.net/view-image.php?image=27342&amp;picture=solid-blue-background&amp;large=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publicdomainpictures.net/view-image.php?image=27342&amp;picture=solid-blue-background&amp;large=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www.publicdomainpictures.net/view-image.php?image=27342&amp;picture=solid-blue-background&amp;large=1" TargetMode="External"/><Relationship Id="rId7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25.png"/><Relationship Id="rId4" Type="http://schemas.openxmlformats.org/officeDocument/2006/relationships/hyperlink" Target="https://www.publicdomainpictures.net/view-image.php?image=27342&amp;picture=solid-blue-background&amp;large=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hyperlink" Target="https://www.publicdomainpictures.net/view-image.php?image=27342&amp;picture=solid-blue-background&amp;large=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876776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76776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59435"/>
            <a:ext cx="1476375" cy="333375"/>
          </a:xfrm>
          <a:prstGeom prst="roundRect">
            <a:avLst>
              <a:gd name="adj" fmla="val 17142"/>
            </a:avLst>
          </a:prstGeom>
          <a:solidFill>
            <a:srgbClr val="2C5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00275" y="4059435"/>
            <a:ext cx="1781175" cy="333375"/>
          </a:xfrm>
          <a:prstGeom prst="roundRect">
            <a:avLst>
              <a:gd name="adj" fmla="val 17142"/>
            </a:avLst>
          </a:prstGeom>
          <a:solidFill>
            <a:srgbClr val="2C5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95750" y="4059435"/>
            <a:ext cx="1695450" cy="333375"/>
          </a:xfrm>
          <a:prstGeom prst="roundRect">
            <a:avLst>
              <a:gd name="adj" fmla="val 17142"/>
            </a:avLst>
          </a:prstGeom>
          <a:solidFill>
            <a:srgbClr val="2C5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05500" y="4059435"/>
            <a:ext cx="1581150" cy="333375"/>
          </a:xfrm>
          <a:prstGeom prst="roundRect">
            <a:avLst>
              <a:gd name="adj" fmla="val 17142"/>
            </a:avLst>
          </a:prstGeom>
          <a:solidFill>
            <a:srgbClr val="2C5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623887"/>
            <a:ext cx="23156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93C5FD"/>
                </a:solidFill>
                <a:latin typeface="Plus Jakarta Sans"/>
              </a:rPr>
              <a:t>PYTHON DATA </a:t>
            </a:r>
            <a:r>
              <a:rPr lang="en-US" sz="1200" b="1" dirty="0">
                <a:solidFill>
                  <a:srgbClr val="93C5FD"/>
                </a:solidFill>
                <a:latin typeface="Plus Jakarta Sans"/>
              </a:rPr>
              <a:t>ANALYSIS</a:t>
            </a:r>
            <a:r>
              <a:rPr sz="1200" b="1" i="0" u="none" dirty="0">
                <a:solidFill>
                  <a:srgbClr val="93C5FD"/>
                </a:solidFill>
                <a:latin typeface="Plus Jakarta Sans"/>
              </a:rPr>
              <a:t>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22165"/>
            <a:ext cx="7134069" cy="6241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800" b="1" i="0" u="none" dirty="0">
                <a:solidFill>
                  <a:srgbClr val="FFFFFF"/>
                </a:solidFill>
                <a:latin typeface="Plus Jakarta Sans"/>
              </a:rPr>
              <a:t>E-Commerce Sales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125985"/>
            <a:ext cx="8191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Exploratory Data Analysis, Data Preprocessing &amp; Feature Engineering on 5,000 Retail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76801"/>
            <a:ext cx="2202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Dataset: 5,000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6025" y="6076801"/>
            <a:ext cx="1845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Source: Kaggle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135635"/>
            <a:ext cx="1266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"/>
              </a:rPr>
              <a:t>Pandas &amp; 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2675" y="4135635"/>
            <a:ext cx="1571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F1F5F9"/>
                </a:solidFill>
                <a:latin typeface="Plus Jakarta Sans"/>
              </a:rPr>
              <a:t>Matplotlib &amp; Seaborn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150" y="4135635"/>
            <a:ext cx="14859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25" dirty="0">
                <a:solidFill>
                  <a:srgbClr val="F1F5F9"/>
                </a:solidFill>
                <a:latin typeface="Plus Jakarta Sans"/>
              </a:rPr>
              <a:t>Visualizations</a:t>
            </a:r>
          </a:p>
          <a:p>
            <a:pPr algn="l"/>
            <a:endParaRPr sz="1125" b="0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57900" y="4135635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"/>
              </a:rPr>
              <a:t>Customer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0287"/>
            <a:ext cx="5295900" cy="1476375"/>
          </a:xfrm>
          <a:prstGeom prst="roundRect">
            <a:avLst>
              <a:gd name="adj" fmla="val 7741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09600" y="3967162"/>
            <a:ext cx="5295900" cy="1247775"/>
          </a:xfrm>
          <a:prstGeom prst="roundRect">
            <a:avLst>
              <a:gd name="adj" fmla="val 9160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2452687"/>
            <a:ext cx="2552700" cy="1209675"/>
          </a:xfrm>
          <a:prstGeom prst="roundRect">
            <a:avLst>
              <a:gd name="adj" fmla="val 944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29700" y="2452687"/>
            <a:ext cx="2552700" cy="1209675"/>
          </a:xfrm>
          <a:prstGeom prst="roundRect">
            <a:avLst>
              <a:gd name="adj" fmla="val 944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86500" y="3852862"/>
            <a:ext cx="2552700" cy="1209675"/>
          </a:xfrm>
          <a:prstGeom prst="roundRect">
            <a:avLst>
              <a:gd name="adj" fmla="val 944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29700" y="3852862"/>
            <a:ext cx="2552700" cy="1209675"/>
          </a:xfrm>
          <a:prstGeom prst="roundRect">
            <a:avLst>
              <a:gd name="adj" fmla="val 944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Project Scope &amp; Dataset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4112" y="2719387"/>
            <a:ext cx="26574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766E"/>
                </a:solidFill>
                <a:latin typeface="Plus Jakarta Sans"/>
              </a:rPr>
              <a:t>5,000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Total Orders Analyzed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7312" y="2719387"/>
            <a:ext cx="26574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2563EB"/>
                </a:solidFill>
                <a:latin typeface="Plus Jakarta Sans"/>
              </a:rPr>
              <a:t>$1,022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Average Order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4112" y="4119562"/>
            <a:ext cx="26574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4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Product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7312" y="4119562"/>
            <a:ext cx="265747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Plus Jakarta Sans"/>
              </a:rPr>
              <a:t>21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Final Analysis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538412"/>
            <a:ext cx="63257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Comprehensive Analysis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852737"/>
            <a:ext cx="4914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End-to-end evaluation of e-commerce order patterns, revenue distribution, delivery logistics, and customer ratings across major product categories.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205287"/>
            <a:ext cx="63257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Key 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19612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Automated preprocessing pipeline, 9 new engineered business metrics, and exploratory visualizations for strategic optimization.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1F1067-27EE-B0B1-EBA0-DAE3CF7E6D80}"/>
              </a:ext>
            </a:extLst>
          </p:cNvPr>
          <p:cNvSpPr txBox="1"/>
          <p:nvPr/>
        </p:nvSpPr>
        <p:spPr>
          <a:xfrm>
            <a:off x="11513489" y="62338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03019115-9B34-5D13-C7B1-FC476B218A28}"/>
              </a:ext>
            </a:extLst>
          </p:cNvPr>
          <p:cNvSpPr/>
          <p:nvPr/>
        </p:nvSpPr>
        <p:spPr>
          <a:xfrm>
            <a:off x="609600" y="2290762"/>
            <a:ext cx="2600325" cy="2038350"/>
          </a:xfrm>
          <a:prstGeom prst="roundRect">
            <a:avLst>
              <a:gd name="adj" fmla="val 560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390F982-D8B5-F129-488E-207CA1837073}"/>
              </a:ext>
            </a:extLst>
          </p:cNvPr>
          <p:cNvSpPr/>
          <p:nvPr/>
        </p:nvSpPr>
        <p:spPr>
          <a:xfrm>
            <a:off x="3400425" y="2290762"/>
            <a:ext cx="2600325" cy="2038350"/>
          </a:xfrm>
          <a:prstGeom prst="roundRect">
            <a:avLst>
              <a:gd name="adj" fmla="val 560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highlight>
                <a:srgbClr val="FFFF00"/>
              </a:highlight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8A1F4DD-BB35-A40C-4CD5-B3E25B7AA619}"/>
              </a:ext>
            </a:extLst>
          </p:cNvPr>
          <p:cNvSpPr/>
          <p:nvPr/>
        </p:nvSpPr>
        <p:spPr>
          <a:xfrm>
            <a:off x="6096000" y="2290763"/>
            <a:ext cx="2797372" cy="2038350"/>
          </a:xfrm>
          <a:prstGeom prst="roundRect">
            <a:avLst>
              <a:gd name="adj" fmla="val 621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highlight>
                <a:srgbClr val="FFFF00"/>
              </a:highlight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267456E-BC11-94B2-8B52-50B50ADF743D}"/>
              </a:ext>
            </a:extLst>
          </p:cNvPr>
          <p:cNvSpPr/>
          <p:nvPr/>
        </p:nvSpPr>
        <p:spPr>
          <a:xfrm>
            <a:off x="8982075" y="2290762"/>
            <a:ext cx="2600325" cy="2038350"/>
          </a:xfrm>
          <a:prstGeom prst="roundRect">
            <a:avLst>
              <a:gd name="adj" fmla="val 560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highlight>
                <a:srgbClr val="FFFF00"/>
              </a:highlight>
            </a:endParaRP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B648D5DA-AC9F-BE72-C23D-11AFDC3D6378}"/>
              </a:ext>
            </a:extLst>
          </p:cNvPr>
          <p:cNvSpPr/>
          <p:nvPr/>
        </p:nvSpPr>
        <p:spPr>
          <a:xfrm>
            <a:off x="847725" y="256698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661BC481-085F-DA4C-C8EE-35E732B4DDCB}"/>
              </a:ext>
            </a:extLst>
          </p:cNvPr>
          <p:cNvSpPr/>
          <p:nvPr/>
        </p:nvSpPr>
        <p:spPr>
          <a:xfrm>
            <a:off x="3638550" y="256698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BD297233-D92F-D090-D0D3-2CA2C41CBAD9}"/>
              </a:ext>
            </a:extLst>
          </p:cNvPr>
          <p:cNvSpPr/>
          <p:nvPr/>
        </p:nvSpPr>
        <p:spPr>
          <a:xfrm>
            <a:off x="6429375" y="2667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CBFA7026-815C-00BA-3845-92DF14C9CB09}"/>
              </a:ext>
            </a:extLst>
          </p:cNvPr>
          <p:cNvSpPr/>
          <p:nvPr/>
        </p:nvSpPr>
        <p:spPr>
          <a:xfrm>
            <a:off x="9220200" y="256698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B83F14-E7FF-94A0-3879-2976A28B7B8A}"/>
              </a:ext>
            </a:extLst>
          </p:cNvPr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DATA PIPELINE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9141CF-8C34-3BCA-F2D2-37F2C9F3D428}"/>
              </a:ext>
            </a:extLst>
          </p:cNvPr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Data Preprocessing &amp; Integrity Workflow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6F3AF4-B905-9895-3085-F005063461B8}"/>
              </a:ext>
            </a:extLst>
          </p:cNvPr>
          <p:cNvSpPr txBox="1"/>
          <p:nvPr/>
        </p:nvSpPr>
        <p:spPr>
          <a:xfrm>
            <a:off x="704850" y="2566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97155-8D6B-45AF-54E9-F103615342B9}"/>
              </a:ext>
            </a:extLst>
          </p:cNvPr>
          <p:cNvSpPr txBox="1"/>
          <p:nvPr/>
        </p:nvSpPr>
        <p:spPr>
          <a:xfrm>
            <a:off x="847725" y="31384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Date Standardizing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2E33B5-8BCC-620F-0570-346ED62A1996}"/>
              </a:ext>
            </a:extLst>
          </p:cNvPr>
          <p:cNvSpPr txBox="1"/>
          <p:nvPr/>
        </p:nvSpPr>
        <p:spPr>
          <a:xfrm>
            <a:off x="847725" y="3452812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Converted order dates to datetime formats via pandas parsing.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172763-E84A-82FD-78FF-9E5CE26CF36D}"/>
              </a:ext>
            </a:extLst>
          </p:cNvPr>
          <p:cNvSpPr txBox="1"/>
          <p:nvPr/>
        </p:nvSpPr>
        <p:spPr>
          <a:xfrm>
            <a:off x="3495675" y="2566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F766E"/>
                </a:solidFill>
                <a:latin typeface="Plus Jakarta Sans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66ED52-926F-9034-2692-968A6F7E871C}"/>
              </a:ext>
            </a:extLst>
          </p:cNvPr>
          <p:cNvSpPr txBox="1"/>
          <p:nvPr/>
        </p:nvSpPr>
        <p:spPr>
          <a:xfrm>
            <a:off x="3638550" y="31384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Missing Imputation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1F09-C8B0-7252-7DCB-FF0701DD1F76}"/>
              </a:ext>
            </a:extLst>
          </p:cNvPr>
          <p:cNvSpPr txBox="1"/>
          <p:nvPr/>
        </p:nvSpPr>
        <p:spPr>
          <a:xfrm>
            <a:off x="3638550" y="3452812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Applied median for numeric metrics and mode for categoricals.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868219-F731-BBA9-C833-D0817E05872E}"/>
              </a:ext>
            </a:extLst>
          </p:cNvPr>
          <p:cNvSpPr txBox="1"/>
          <p:nvPr/>
        </p:nvSpPr>
        <p:spPr>
          <a:xfrm>
            <a:off x="6286500" y="26670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83FFAF-7CC1-9CE8-EA44-1F4DC3B7C49A}"/>
              </a:ext>
            </a:extLst>
          </p:cNvPr>
          <p:cNvSpPr txBox="1"/>
          <p:nvPr/>
        </p:nvSpPr>
        <p:spPr>
          <a:xfrm>
            <a:off x="6429375" y="32385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Deduplication Check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FAE27B-5EDF-A049-AE44-9481B1FA2D13}"/>
              </a:ext>
            </a:extLst>
          </p:cNvPr>
          <p:cNvSpPr txBox="1"/>
          <p:nvPr/>
        </p:nvSpPr>
        <p:spPr>
          <a:xfrm>
            <a:off x="6429375" y="3552825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Verified zero duplicate records across 5,000 unique rows.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22F2D9-3FB7-1458-3004-C18820DD96DC}"/>
              </a:ext>
            </a:extLst>
          </p:cNvPr>
          <p:cNvSpPr txBox="1"/>
          <p:nvPr/>
        </p:nvSpPr>
        <p:spPr>
          <a:xfrm>
            <a:off x="9077325" y="25669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5CE12E-AB21-14A0-5F20-5F2B2F1F29F6}"/>
              </a:ext>
            </a:extLst>
          </p:cNvPr>
          <p:cNvSpPr txBox="1"/>
          <p:nvPr/>
        </p:nvSpPr>
        <p:spPr>
          <a:xfrm>
            <a:off x="9220200" y="31384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Type Validation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5E0E47-C947-0234-3E20-1CF26D8E7E15}"/>
              </a:ext>
            </a:extLst>
          </p:cNvPr>
          <p:cNvSpPr txBox="1"/>
          <p:nvPr/>
        </p:nvSpPr>
        <p:spPr>
          <a:xfrm>
            <a:off x="9220200" y="3452812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Ensured clean numeric float64 and integer schema consistency.</a:t>
            </a:r>
          </a:p>
        </p:txBody>
      </p:sp>
    </p:spTree>
    <p:extLst>
      <p:ext uri="{BB962C8B-B14F-4D97-AF65-F5344CB8AC3E}">
        <p14:creationId xmlns:p14="http://schemas.microsoft.com/office/powerpoint/2010/main" val="2245926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575"/>
            <a:ext cx="2571750" cy="2124075"/>
          </a:xfrm>
          <a:prstGeom prst="roundRect">
            <a:avLst>
              <a:gd name="adj" fmla="val 5381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786062"/>
            <a:ext cx="2571750" cy="1943100"/>
          </a:xfrm>
          <a:prstGeom prst="roundRect">
            <a:avLst>
              <a:gd name="adj" fmla="val 5882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95575"/>
            <a:ext cx="2571750" cy="2124075"/>
          </a:xfrm>
          <a:prstGeom prst="roundRect">
            <a:avLst>
              <a:gd name="adj" fmla="val 5381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786062"/>
            <a:ext cx="2571750" cy="1943100"/>
          </a:xfrm>
          <a:prstGeom prst="roundRect">
            <a:avLst>
              <a:gd name="adj" fmla="val 5882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4343400"/>
            <a:ext cx="1600200" cy="238125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86175" y="4252912"/>
            <a:ext cx="1981200" cy="238125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6525" y="4343400"/>
            <a:ext cx="1752600" cy="238125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86875" y="4252912"/>
            <a:ext cx="1419225" cy="238125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971800"/>
            <a:ext cx="2000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175" y="3062287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971800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5" y="3062287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Derived Features for Business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390900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Gross &amp; Discount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686175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Calculated pre-discount gross sales and absolute discount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381500"/>
            <a:ext cx="1543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766E"/>
                </a:solidFill>
                <a:latin typeface="JetBrains Mono"/>
              </a:rPr>
              <a:t>gross = qty *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3481387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Unit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6175" y="3776662"/>
            <a:ext cx="2114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Net revenue earned per individual unit sold.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2375" y="4291012"/>
            <a:ext cx="1924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JetBrains Mono"/>
              </a:rPr>
              <a:t>rev_per_unit = rev / qty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390900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Delivery Bins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686175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Categorized delivery speed into Fast, Normal, and Slow tiers.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381500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97706"/>
                </a:solidFill>
                <a:latin typeface="JetBrains Mono"/>
              </a:rPr>
              <a:t>pd.cut(delivery_days)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6875" y="3481387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Rating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6875" y="3776662"/>
            <a:ext cx="2114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Segmented customer feedback into 4 quality tiers.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075" y="4291012"/>
            <a:ext cx="1362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C3AED"/>
                </a:solidFill>
                <a:latin typeface="JetBrains Mono"/>
              </a:rPr>
              <a:t>Poor → Excellent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1250"/>
            <a:ext cx="5295900" cy="2752725"/>
          </a:xfrm>
          <a:prstGeom prst="roundRect">
            <a:avLst>
              <a:gd name="adj" fmla="val 4152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305050"/>
            <a:ext cx="5295900" cy="2905125"/>
          </a:xfrm>
          <a:prstGeom prst="roundRect">
            <a:avLst>
              <a:gd name="adj" fmla="val 3934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62725" y="2990850"/>
            <a:ext cx="2295525" cy="895350"/>
          </a:xfrm>
          <a:prstGeom prst="roundRect">
            <a:avLst>
              <a:gd name="adj" fmla="val 8510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90850"/>
            <a:ext cx="2295525" cy="895350"/>
          </a:xfrm>
          <a:prstGeom prst="roundRect">
            <a:avLst>
              <a:gd name="adj" fmla="val 8510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62725" y="4038600"/>
            <a:ext cx="2295525" cy="895350"/>
          </a:xfrm>
          <a:prstGeom prst="roundRect">
            <a:avLst>
              <a:gd name="adj" fmla="val 8510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0650" y="4038600"/>
            <a:ext cx="2295525" cy="895350"/>
          </a:xfrm>
          <a:prstGeom prst="roundRect">
            <a:avLst>
              <a:gd name="adj" fmla="val 8510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3305175"/>
            <a:ext cx="47434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3790950"/>
            <a:ext cx="47434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5825" y="4276725"/>
            <a:ext cx="47434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5825" y="4762500"/>
            <a:ext cx="47434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5825" y="3305175"/>
            <a:ext cx="4031902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5825" y="3790950"/>
            <a:ext cx="3557587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5825" y="4276725"/>
            <a:ext cx="3320355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5825" y="4762500"/>
            <a:ext cx="3225403" cy="9525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SALES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Product Category &amp; Regional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657475"/>
            <a:ext cx="62257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Category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581275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Geographic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3162300"/>
            <a:ext cx="20478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West Region </a:t>
            </a:r>
            <a:r>
              <a:rPr sz="1950" b="1" i="0" u="none">
                <a:solidFill>
                  <a:srgbClr val="0F172A"/>
                </a:solidFill>
                <a:latin typeface="Plus Jakarta Sans"/>
              </a:rPr>
              <a:t>26.4%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162300"/>
            <a:ext cx="20478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South Region </a:t>
            </a:r>
            <a:r>
              <a:rPr sz="1950" b="1" i="0" u="none">
                <a:solidFill>
                  <a:srgbClr val="0F172A"/>
                </a:solidFill>
                <a:latin typeface="Plus Jakarta Sans"/>
              </a:rPr>
              <a:t>25.1%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210050"/>
            <a:ext cx="20478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East Region </a:t>
            </a:r>
            <a:r>
              <a:rPr sz="1950" b="1" i="0" u="none">
                <a:solidFill>
                  <a:srgbClr val="0F172A"/>
                </a:solidFill>
                <a:latin typeface="Plus Jakarta Sans"/>
              </a:rPr>
              <a:t>24.8%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4210050"/>
            <a:ext cx="20478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North Region </a:t>
            </a:r>
            <a:r>
              <a:rPr sz="1950" b="1" i="0" u="none">
                <a:solidFill>
                  <a:srgbClr val="0F172A"/>
                </a:solidFill>
                <a:latin typeface="Plus Jakarta Sans"/>
              </a:rPr>
              <a:t>23.7%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3067050"/>
            <a:ext cx="1066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Electronics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4450" y="3067050"/>
            <a:ext cx="790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$1.42M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552825"/>
            <a:ext cx="781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Beauty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3975" y="3552825"/>
            <a:ext cx="781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$1.28M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4038600"/>
            <a:ext cx="895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Clothing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2550" y="4038600"/>
            <a:ext cx="752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$1.21M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4524375"/>
            <a:ext cx="704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2550" y="4524375"/>
            <a:ext cx="752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$1.19M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5741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A32"/>
                </a:solidFill>
              </a:defRPr>
            </a:pPr>
            <a:r>
              <a:rPr sz="2000" dirty="0"/>
              <a:t>Revenue by Product Category</a:t>
            </a:r>
          </a:p>
        </p:txBody>
      </p:sp>
      <p:pic>
        <p:nvPicPr>
          <p:cNvPr id="3" name="Picture 2" descr="category_re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85" y="720150"/>
            <a:ext cx="4643562" cy="26120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8592" y="826936"/>
            <a:ext cx="3053300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Highest revenue category: Electronics.</a:t>
            </a:r>
          </a:p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Revenue from Electronics: 1,829,899.22.</a:t>
            </a:r>
          </a:p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Category comparison helps identify where sales value is concentrated.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F550D-B00F-C05A-9D8D-73344AB7293A}"/>
              </a:ext>
            </a:extLst>
          </p:cNvPr>
          <p:cNvSpPr txBox="1"/>
          <p:nvPr/>
        </p:nvSpPr>
        <p:spPr>
          <a:xfrm>
            <a:off x="8269356" y="3573982"/>
            <a:ext cx="2469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232A32"/>
                </a:solidFill>
              </a:defRPr>
            </a:lvl1pPr>
          </a:lstStyle>
          <a:p>
            <a:r>
              <a:rPr dirty="0"/>
              <a:t>Revenue by Region</a:t>
            </a:r>
          </a:p>
        </p:txBody>
      </p:sp>
      <p:pic>
        <p:nvPicPr>
          <p:cNvPr id="8" name="Picture 7" descr="region_revenue.png">
            <a:extLst>
              <a:ext uri="{FF2B5EF4-FFF2-40B4-BE49-F238E27FC236}">
                <a16:creationId xmlns:a16="http://schemas.microsoft.com/office/drawing/2014/main" id="{759213EE-4873-4558-D923-1228E29D9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2808" y="4002926"/>
            <a:ext cx="4643561" cy="26120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D3160D-06D0-E57D-9F7E-ED84284287F2}"/>
              </a:ext>
            </a:extLst>
          </p:cNvPr>
          <p:cNvSpPr txBox="1"/>
          <p:nvPr/>
        </p:nvSpPr>
        <p:spPr>
          <a:xfrm>
            <a:off x="2804160" y="4297256"/>
            <a:ext cx="3501224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Highest revenue region: West.</a:t>
            </a:r>
          </a:p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Regional analysis shows where sales performance is strongest.</a:t>
            </a:r>
          </a:p>
          <a:p>
            <a:pPr>
              <a:spcAft>
                <a:spcPts val="13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This can support regional marketing and sales decisions.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2B448-E939-53FA-C6ED-F0851FB349EB}"/>
              </a:ext>
            </a:extLst>
          </p:cNvPr>
          <p:cNvSpPr txBox="1"/>
          <p:nvPr/>
        </p:nvSpPr>
        <p:spPr>
          <a:xfrm>
            <a:off x="640080" y="320040"/>
            <a:ext cx="3009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A32"/>
                </a:solidFill>
              </a:defRPr>
            </a:pPr>
            <a:r>
              <a:rPr sz="2000" b="1" dirty="0">
                <a:solidFill>
                  <a:srgbClr val="232A32"/>
                </a:solidFill>
              </a:rPr>
              <a:t>Payment</a:t>
            </a:r>
            <a:r>
              <a:rPr dirty="0"/>
              <a:t> </a:t>
            </a:r>
            <a:r>
              <a:rPr sz="2000" b="1" dirty="0">
                <a:solidFill>
                  <a:srgbClr val="232A32"/>
                </a:solidFill>
              </a:rPr>
              <a:t>Method</a:t>
            </a:r>
            <a:r>
              <a:rPr dirty="0"/>
              <a:t> </a:t>
            </a:r>
            <a:r>
              <a:rPr sz="2000" b="1" dirty="0">
                <a:solidFill>
                  <a:srgbClr val="232A32"/>
                </a:solidFill>
              </a:rPr>
              <a:t>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CC509-B266-ABB5-0855-CABF0A2B9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43260"/>
            <a:ext cx="3013948" cy="2440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4DB4C5-82DD-8EE4-B718-F2E917D3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160" y="1069045"/>
            <a:ext cx="3377477" cy="32250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0C0FDE-098C-81E8-445D-58D0DB2B1086}"/>
              </a:ext>
            </a:extLst>
          </p:cNvPr>
          <p:cNvSpPr txBox="1"/>
          <p:nvPr/>
        </p:nvSpPr>
        <p:spPr>
          <a:xfrm>
            <a:off x="7985098" y="3718654"/>
            <a:ext cx="3377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32A32"/>
                </a:solidFill>
              </a:rPr>
              <a:t>Distribution</a:t>
            </a:r>
            <a:r>
              <a:rPr lang="en-US" sz="1800" b="1" i="0" dirty="0">
                <a:effectLst/>
                <a:latin typeface="+mn-lt"/>
              </a:rPr>
              <a:t> of Revenue </a:t>
            </a:r>
            <a:endParaRPr lang="en-US" sz="1500" b="1" i="0" dirty="0">
              <a:effectLst/>
              <a:latin typeface="system-u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00BE58E-94F9-290B-4ED4-AFFB231AC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043" y="4118764"/>
            <a:ext cx="3502587" cy="261917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E679B03-F768-4C68-CD03-B931BC125404}"/>
              </a:ext>
            </a:extLst>
          </p:cNvPr>
          <p:cNvSpPr txBox="1"/>
          <p:nvPr/>
        </p:nvSpPr>
        <p:spPr>
          <a:xfrm>
            <a:off x="2904215" y="4136654"/>
            <a:ext cx="3790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Support statistical analysis of revenue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32E69A-6A55-2982-7559-C40A0633D5A3}"/>
              </a:ext>
            </a:extLst>
          </p:cNvPr>
          <p:cNvSpPr txBox="1"/>
          <p:nvPr/>
        </p:nvSpPr>
        <p:spPr>
          <a:xfrm>
            <a:off x="2904215" y="4505986"/>
            <a:ext cx="4466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Understand the distribution of order revenue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34BF72-1EF5-279C-EBA1-FE6138871804}"/>
              </a:ext>
            </a:extLst>
          </p:cNvPr>
          <p:cNvSpPr txBox="1"/>
          <p:nvPr/>
        </p:nvSpPr>
        <p:spPr>
          <a:xfrm>
            <a:off x="2904215" y="4914048"/>
            <a:ext cx="4355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Determine whether revenue is normally distributed or skewed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928CA4-3583-20CB-CDB5-89CD05179D41}"/>
              </a:ext>
            </a:extLst>
          </p:cNvPr>
          <p:cNvSpPr txBox="1"/>
          <p:nvPr/>
        </p:nvSpPr>
        <p:spPr>
          <a:xfrm>
            <a:off x="2904215" y="5671249"/>
            <a:ext cx="4355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possible very low or very high revenue values</a:t>
            </a:r>
          </a:p>
        </p:txBody>
      </p:sp>
    </p:spTree>
    <p:extLst>
      <p:ext uri="{BB962C8B-B14F-4D97-AF65-F5344CB8AC3E}">
        <p14:creationId xmlns:p14="http://schemas.microsoft.com/office/powerpoint/2010/main" val="1069790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5849E-C6D8-6DC3-2E00-7DD7561F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4E4C7-EFD7-AF9C-FD6F-F7B723B7BA30}"/>
              </a:ext>
            </a:extLst>
          </p:cNvPr>
          <p:cNvSpPr txBox="1"/>
          <p:nvPr/>
        </p:nvSpPr>
        <p:spPr>
          <a:xfrm>
            <a:off x="542677" y="299593"/>
            <a:ext cx="221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b="1" i="0" dirty="0">
                <a:effectLst/>
                <a:latin typeface="+mn-lt"/>
              </a:rPr>
              <a:t>Correlation Heatmap</a:t>
            </a:r>
            <a:endParaRPr lang="en-US" sz="1500" b="1" i="0" dirty="0">
              <a:effectLst/>
              <a:latin typeface="system-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01347-1EA9-F52E-C699-9781C6DB7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77" y="606459"/>
            <a:ext cx="3958703" cy="2822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C1009-0E4F-53FA-B1BC-FC48CBF7FF3B}"/>
              </a:ext>
            </a:extLst>
          </p:cNvPr>
          <p:cNvSpPr txBox="1"/>
          <p:nvPr/>
        </p:nvSpPr>
        <p:spPr>
          <a:xfrm>
            <a:off x="4725064" y="619431"/>
            <a:ext cx="495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relationships between numerical variables.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7FC1E-D394-FF82-E584-D20C1C1E9927}"/>
              </a:ext>
            </a:extLst>
          </p:cNvPr>
          <p:cNvSpPr txBox="1"/>
          <p:nvPr/>
        </p:nvSpPr>
        <p:spPr>
          <a:xfrm>
            <a:off x="4725064" y="1116021"/>
            <a:ext cx="4880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variables that are strongly positively or negatively correlated.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A99ED-1F15-6192-9AB0-C0520D5F6B7F}"/>
              </a:ext>
            </a:extLst>
          </p:cNvPr>
          <p:cNvSpPr txBox="1"/>
          <p:nvPr/>
        </p:nvSpPr>
        <p:spPr>
          <a:xfrm>
            <a:off x="4758194" y="188961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Detect variables with weak relationships.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2A376-E31E-972A-BC60-4432602A748E}"/>
              </a:ext>
            </a:extLst>
          </p:cNvPr>
          <p:cNvSpPr txBox="1"/>
          <p:nvPr/>
        </p:nvSpPr>
        <p:spPr>
          <a:xfrm>
            <a:off x="4725064" y="234531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 your statistical and business analysis.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98681-D526-47BD-89C7-F20F6DD904BB}"/>
              </a:ext>
            </a:extLst>
          </p:cNvPr>
          <p:cNvSpPr txBox="1"/>
          <p:nvPr/>
        </p:nvSpPr>
        <p:spPr>
          <a:xfrm>
            <a:off x="5504291" y="3595047"/>
            <a:ext cx="60946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b="1" i="0" dirty="0">
                <a:effectLst/>
                <a:latin typeface="+mn-lt"/>
              </a:rPr>
              <a:t>Customer Rating Distribution by Product Category</a:t>
            </a:r>
            <a:endParaRPr lang="en-US" sz="1500" b="1" i="0" dirty="0">
              <a:effectLst/>
              <a:latin typeface="system-u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8E4589-BEBF-318E-0D2E-0EC0B0A16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077" y="3918212"/>
            <a:ext cx="3958703" cy="28095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4FB42A-AE71-DA5E-5336-03384E7B4527}"/>
              </a:ext>
            </a:extLst>
          </p:cNvPr>
          <p:cNvSpPr txBox="1"/>
          <p:nvPr/>
        </p:nvSpPr>
        <p:spPr>
          <a:xfrm>
            <a:off x="289170" y="42413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Compare customer satisfaction across product categories.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C482BA-C322-875C-BB4F-3B166940811B}"/>
              </a:ext>
            </a:extLst>
          </p:cNvPr>
          <p:cNvSpPr txBox="1"/>
          <p:nvPr/>
        </p:nvSpPr>
        <p:spPr>
          <a:xfrm>
            <a:off x="249022" y="4814115"/>
            <a:ext cx="5517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categories with ratings concentrated around high or low values.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04C784-C4C0-CABD-BAEA-5BBF7415A243}"/>
              </a:ext>
            </a:extLst>
          </p:cNvPr>
          <p:cNvSpPr txBox="1"/>
          <p:nvPr/>
        </p:nvSpPr>
        <p:spPr>
          <a:xfrm>
            <a:off x="203200" y="5627234"/>
            <a:ext cx="5447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Observe how much variation exists in customer ratings.</a:t>
            </a:r>
          </a:p>
        </p:txBody>
      </p:sp>
    </p:spTree>
    <p:extLst>
      <p:ext uri="{BB962C8B-B14F-4D97-AF65-F5344CB8AC3E}">
        <p14:creationId xmlns:p14="http://schemas.microsoft.com/office/powerpoint/2010/main" val="160674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D65A9E-1399-3C09-E119-6CAC9A7F5159}"/>
              </a:ext>
            </a:extLst>
          </p:cNvPr>
          <p:cNvSpPr txBox="1"/>
          <p:nvPr/>
        </p:nvSpPr>
        <p:spPr>
          <a:xfrm>
            <a:off x="727544" y="307545"/>
            <a:ext cx="3446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b="1" i="0" dirty="0">
                <a:effectLst/>
                <a:latin typeface="+mn-lt"/>
              </a:rPr>
              <a:t>Revenue Distribution and Outliers</a:t>
            </a:r>
            <a:endParaRPr lang="en-US" sz="1500" b="1" i="0" dirty="0">
              <a:effectLst/>
              <a:latin typeface="system-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91F59-F411-4513-6B20-9C40F3CB4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83" y="676877"/>
            <a:ext cx="3458452" cy="2586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61E1BC-52C6-B43B-7391-CCFCC33EC236}"/>
              </a:ext>
            </a:extLst>
          </p:cNvPr>
          <p:cNvSpPr txBox="1"/>
          <p:nvPr/>
        </p:nvSpPr>
        <p:spPr>
          <a:xfrm>
            <a:off x="4305631" y="809247"/>
            <a:ext cx="3900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Understand the spread of order revenue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6E05-7D33-98D5-0E29-672D7C710F28}"/>
              </a:ext>
            </a:extLst>
          </p:cNvPr>
          <p:cNvSpPr txBox="1"/>
          <p:nvPr/>
        </p:nvSpPr>
        <p:spPr>
          <a:xfrm>
            <a:off x="4305631" y="1238617"/>
            <a:ext cx="3711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the median revenue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3A9D4-8835-CAD1-F91B-B03101B530F8}"/>
              </a:ext>
            </a:extLst>
          </p:cNvPr>
          <p:cNvSpPr txBox="1"/>
          <p:nvPr/>
        </p:nvSpPr>
        <p:spPr>
          <a:xfrm>
            <a:off x="4305631" y="1723647"/>
            <a:ext cx="4194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whether the dataset contains outliers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3E397-FC83-DEED-1B69-3FF5441F0054}"/>
              </a:ext>
            </a:extLst>
          </p:cNvPr>
          <p:cNvSpPr txBox="1"/>
          <p:nvPr/>
        </p:nvSpPr>
        <p:spPr>
          <a:xfrm>
            <a:off x="4305631" y="2153017"/>
            <a:ext cx="4098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Understand whether a few extreme orders may affect the average revenue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100A4D-950D-C892-08C2-AD59388197BD}"/>
              </a:ext>
            </a:extLst>
          </p:cNvPr>
          <p:cNvSpPr txBox="1"/>
          <p:nvPr/>
        </p:nvSpPr>
        <p:spPr>
          <a:xfrm>
            <a:off x="6730779" y="3612449"/>
            <a:ext cx="409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b="1" i="0" dirty="0">
                <a:effectLst/>
                <a:latin typeface="+mn-lt"/>
              </a:rPr>
              <a:t>Revenue Distribution by Product Category </a:t>
            </a:r>
            <a:endParaRPr lang="en-US" sz="1500" b="1" i="0" dirty="0">
              <a:effectLst/>
              <a:latin typeface="system-u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CA3CBE-8992-3257-0350-64861D954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044" y="4058653"/>
            <a:ext cx="3599527" cy="26882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8492A2-1E61-F9DB-7A8C-549753E63F39}"/>
              </a:ext>
            </a:extLst>
          </p:cNvPr>
          <p:cNvSpPr txBox="1"/>
          <p:nvPr/>
        </p:nvSpPr>
        <p:spPr>
          <a:xfrm>
            <a:off x="1743075" y="4522044"/>
            <a:ext cx="4763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Compare revenue distributions between categories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19AD20-0EA1-CE00-2056-DF8414E7F6EB}"/>
              </a:ext>
            </a:extLst>
          </p:cNvPr>
          <p:cNvSpPr txBox="1"/>
          <p:nvPr/>
        </p:nvSpPr>
        <p:spPr>
          <a:xfrm>
            <a:off x="1743075" y="4985741"/>
            <a:ext cx="4674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categories with higher or lower typical order values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E202A7-45EE-25DB-D2C2-452F68F51960}"/>
              </a:ext>
            </a:extLst>
          </p:cNvPr>
          <p:cNvSpPr txBox="1"/>
          <p:nvPr/>
        </p:nvSpPr>
        <p:spPr>
          <a:xfrm>
            <a:off x="1743075" y="5748988"/>
            <a:ext cx="4559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Understand how much revenue varies within each category</a:t>
            </a:r>
          </a:p>
        </p:txBody>
      </p:sp>
    </p:spTree>
    <p:extLst>
      <p:ext uri="{BB962C8B-B14F-4D97-AF65-F5344CB8AC3E}">
        <p14:creationId xmlns:p14="http://schemas.microsoft.com/office/powerpoint/2010/main" val="1696317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1BB53-068B-ADAE-FB62-08D945F99282}"/>
              </a:ext>
            </a:extLst>
          </p:cNvPr>
          <p:cNvSpPr txBox="1"/>
          <p:nvPr/>
        </p:nvSpPr>
        <p:spPr>
          <a:xfrm>
            <a:off x="533400" y="643777"/>
            <a:ext cx="4116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810"/>
              </a:spcBef>
              <a:spcAft>
                <a:spcPts val="540"/>
              </a:spcAft>
              <a:buNone/>
            </a:pPr>
            <a:r>
              <a:rPr lang="en-US" sz="2400" b="1" i="0" dirty="0">
                <a:effectLst/>
                <a:latin typeface="+mn-lt"/>
              </a:rPr>
              <a:t>Category vs Region Heatmap </a:t>
            </a:r>
            <a:endParaRPr lang="en-US" sz="1600" b="1" i="0" dirty="0">
              <a:effectLst/>
              <a:latin typeface="system-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EE639-52D6-98AA-9CB7-D1FAD7B53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8" y="1842461"/>
            <a:ext cx="4723353" cy="3151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6DA65-6243-E79A-7981-0F6AD4787573}"/>
              </a:ext>
            </a:extLst>
          </p:cNvPr>
          <p:cNvSpPr txBox="1"/>
          <p:nvPr/>
        </p:nvSpPr>
        <p:spPr>
          <a:xfrm>
            <a:off x="4816231" y="2216206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Compare revenue across categories and regions.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6671C-B716-89CC-1A6D-40405948FFFA}"/>
              </a:ext>
            </a:extLst>
          </p:cNvPr>
          <p:cNvSpPr txBox="1"/>
          <p:nvPr/>
        </p:nvSpPr>
        <p:spPr>
          <a:xfrm>
            <a:off x="4816231" y="2834731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the best-performing category in each region.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9ACDD-CBA7-89CB-24F7-7A7199E47FC1}"/>
              </a:ext>
            </a:extLst>
          </p:cNvPr>
          <p:cNvSpPr txBox="1"/>
          <p:nvPr/>
        </p:nvSpPr>
        <p:spPr>
          <a:xfrm>
            <a:off x="4816231" y="3453256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regional differences in product performance.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FFBD7-278B-1F93-63BE-8ADE7DC3A004}"/>
              </a:ext>
            </a:extLst>
          </p:cNvPr>
          <p:cNvSpPr txBox="1"/>
          <p:nvPr/>
        </p:nvSpPr>
        <p:spPr>
          <a:xfrm>
            <a:off x="4816231" y="4071781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Quickly identify important category-region combinations.</a:t>
            </a:r>
          </a:p>
        </p:txBody>
      </p:sp>
    </p:spTree>
    <p:extLst>
      <p:ext uri="{BB962C8B-B14F-4D97-AF65-F5344CB8AC3E}">
        <p14:creationId xmlns:p14="http://schemas.microsoft.com/office/powerpoint/2010/main" val="1258933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419350"/>
            <a:ext cx="5295900" cy="790575"/>
          </a:xfrm>
          <a:prstGeom prst="roundRect">
            <a:avLst>
              <a:gd name="adj" fmla="val 12048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86500" y="3362325"/>
            <a:ext cx="5295900" cy="790575"/>
          </a:xfrm>
          <a:prstGeom prst="roundRect">
            <a:avLst>
              <a:gd name="adj" fmla="val 12048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4305300"/>
            <a:ext cx="5295900" cy="790575"/>
          </a:xfrm>
          <a:prstGeom prst="roundRect">
            <a:avLst>
              <a:gd name="adj" fmla="val 12048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33612"/>
            <a:ext cx="529590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233612"/>
            <a:ext cx="5295900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8128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3624262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4567237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OPERATIONS &amp;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Delivery Cycle &amp; Payment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625" y="2619375"/>
            <a:ext cx="32254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6.1 Days Avg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625" y="2838450"/>
            <a:ext cx="3071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Fulfillment range spans from 1 to 11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3562350"/>
            <a:ext cx="185082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50" b="1" dirty="0">
                <a:solidFill>
                  <a:srgbClr val="0F172A"/>
                </a:solidFill>
                <a:latin typeface="Plus Jakarta Sans"/>
              </a:rPr>
              <a:t>Card Payment Dominance</a:t>
            </a:r>
          </a:p>
          <a:p>
            <a:pPr algn="l"/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05625" y="3781425"/>
            <a:ext cx="34977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Plus Jakarta Sans"/>
              </a:rPr>
              <a:t>Credit and debit cards represent the highest transaction volume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8950" y="4505325"/>
            <a:ext cx="40630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18.0% Average Discount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950" y="4724400"/>
            <a:ext cx="3869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Discounts range up to 35% across promo periods.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A1480-6B16-281E-AB0A-3315C1C6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736B0-7CEF-6293-1FA8-C8E826E0DCBF}"/>
              </a:ext>
            </a:extLst>
          </p:cNvPr>
          <p:cNvSpPr txBox="1"/>
          <p:nvPr/>
        </p:nvSpPr>
        <p:spPr>
          <a:xfrm>
            <a:off x="254000" y="24051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Pair Plot — Relationship Between Numerical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DE58D-79A7-B407-A1AB-A942A4407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760535"/>
            <a:ext cx="7913077" cy="5470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25D2D9-8DD6-A55B-6F92-3A830CDEB51A}"/>
              </a:ext>
            </a:extLst>
          </p:cNvPr>
          <p:cNvSpPr txBox="1"/>
          <p:nvPr/>
        </p:nvSpPr>
        <p:spPr>
          <a:xfrm>
            <a:off x="8167077" y="1727066"/>
            <a:ext cx="3457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Analyze multiple relationships simultaneously.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BEE3E-9D8D-3859-0E1F-7A794F31D0FA}"/>
              </a:ext>
            </a:extLst>
          </p:cNvPr>
          <p:cNvSpPr txBox="1"/>
          <p:nvPr/>
        </p:nvSpPr>
        <p:spPr>
          <a:xfrm>
            <a:off x="8167076" y="2792054"/>
            <a:ext cx="3954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Detect unusual observations or outliers.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248ED-02CE-028B-1153-296935011F7C}"/>
              </a:ext>
            </a:extLst>
          </p:cNvPr>
          <p:cNvSpPr txBox="1"/>
          <p:nvPr/>
        </p:nvSpPr>
        <p:spPr>
          <a:xfrm>
            <a:off x="8167077" y="3580043"/>
            <a:ext cx="3954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Understand the individual distribution of each numerical variable.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318AE-59A6-1978-0367-830B19ED046E}"/>
              </a:ext>
            </a:extLst>
          </p:cNvPr>
          <p:cNvSpPr txBox="1"/>
          <p:nvPr/>
        </p:nvSpPr>
        <p:spPr>
          <a:xfrm>
            <a:off x="8167077" y="4645031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variables that appear to have a strong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464395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7193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7193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719387"/>
            <a:ext cx="3530649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957512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2957512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024" y="2957512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766E"/>
                </a:solidFill>
                <a:latin typeface="Plus Jakarta Sans"/>
              </a:rPr>
              <a:t>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Python Analytics Stack &amp;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7661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Pandas &amp; 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52837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 wrangling, date parsing, vector operations, and feature creation.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37661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Matplotlib / Seaborn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652837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Custom statistical visual plots, heatmaps, and distribution graphs.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376612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Jupyter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652837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Interactive notebook execution with embedded visual outputs.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819400"/>
            <a:ext cx="3022550" cy="1447800"/>
          </a:xfrm>
          <a:prstGeom prst="roundRect">
            <a:avLst>
              <a:gd name="adj" fmla="val 7894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84650" y="2819400"/>
            <a:ext cx="3022550" cy="1447800"/>
          </a:xfrm>
          <a:prstGeom prst="roundRect">
            <a:avLst>
              <a:gd name="adj" fmla="val 7894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35800" y="2819400"/>
            <a:ext cx="3022550" cy="1447800"/>
          </a:xfrm>
          <a:prstGeom prst="roundRect">
            <a:avLst>
              <a:gd name="adj" fmla="val 7894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06265" y="609600"/>
            <a:ext cx="7179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6778" y="895350"/>
            <a:ext cx="7538442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FFFFF"/>
                </a:solidFill>
                <a:latin typeface="Plus Jakarta Sans"/>
              </a:rPr>
              <a:t>Key Insights &amp;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360" y="5686425"/>
            <a:ext cx="222527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6343" y="6048375"/>
            <a:ext cx="2119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725" y="3095625"/>
            <a:ext cx="32420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Electronics Driving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725" y="3390900"/>
            <a:ext cx="256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Electronics represents top revenue share; prioritize high-tier promos.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875" y="3095625"/>
            <a:ext cx="32420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Plus Jakarta Sans"/>
              </a:rPr>
              <a:t>Optimize Delivery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875" y="3390900"/>
            <a:ext cx="2565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Reduce 6.1-day avg shipping time to boost customer satisfaction ratings.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2025" y="3095625"/>
            <a:ext cx="32420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BF24"/>
                </a:solidFill>
                <a:latin typeface="Plus Jakarta Sans"/>
              </a:rPr>
              <a:t>Targeted Discounting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025" y="3390900"/>
            <a:ext cx="256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Fine-tune discount rates to preserve net revenue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4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9.xml><?xml version="1.0" encoding="utf-8"?>
<a:themeOverride xmlns:a="http://schemas.openxmlformats.org/drawingml/2006/main">
  <a:clrScheme name="Custom 17">
    <a:dk1>
      <a:srgbClr val="543E34"/>
    </a:dk1>
    <a:lt1>
      <a:srgbClr val="FFFFFF"/>
    </a:lt1>
    <a:dk2>
      <a:srgbClr val="5D6A76"/>
    </a:dk2>
    <a:lt2>
      <a:srgbClr val="E5DACF"/>
    </a:lt2>
    <a:accent1>
      <a:srgbClr val="FEF3ED"/>
    </a:accent1>
    <a:accent2>
      <a:srgbClr val="AC5B4C"/>
    </a:accent2>
    <a:accent3>
      <a:srgbClr val="D0D8B6"/>
    </a:accent3>
    <a:accent4>
      <a:srgbClr val="A09D79"/>
    </a:accent4>
    <a:accent5>
      <a:srgbClr val="4E5745"/>
    </a:accent5>
    <a:accent6>
      <a:srgbClr val="D7D0CE"/>
    </a:accent6>
    <a:hlink>
      <a:srgbClr val="AC5B4C"/>
    </a:hlink>
    <a:folHlink>
      <a:srgbClr val="4E5745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702</Words>
  <Application>Microsoft Office PowerPoint</Application>
  <PresentationFormat>Widescreen</PresentationFormat>
  <Paragraphs>134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Gill Sans Nova Light</vt:lpstr>
      <vt:lpstr>Calibri</vt:lpstr>
      <vt:lpstr>Courier New</vt:lpstr>
      <vt:lpstr>Aptos</vt:lpstr>
      <vt:lpstr>Plus Jakarta Sans</vt:lpstr>
      <vt:lpstr>Sagona Book</vt:lpstr>
      <vt:lpstr>Arial</vt:lpstr>
      <vt:lpstr>JetBrains Mono</vt:lpstr>
      <vt:lpstr>system-ui</vt:lpstr>
      <vt:lpstr>Office Theme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Abhijith P</cp:lastModifiedBy>
  <cp:revision>3</cp:revision>
  <dcterms:created xsi:type="dcterms:W3CDTF">2013-01-27T09:14:16Z</dcterms:created>
  <dcterms:modified xsi:type="dcterms:W3CDTF">2026-09-28T17:56:53Z</dcterms:modified>
  <cp:category/>
</cp:coreProperties>
</file>